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3" r:id="rId7"/>
    <p:sldId id="260" r:id="rId8"/>
    <p:sldId id="265" r:id="rId15"/>
    <p:sldId id="266" r:id="rId16"/>
    <p:sldId id="267" r:id="rId17"/>
    <p:sldId id="261" r:id="rId9"/>
    <p:sldId id="268" r:id="rId18"/>
    <p:sldId id="262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60" d="100"/>
          <a:sy n="6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7501" y="0"/>
            <a:ext cx="12378255" cy="82437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98944" y="0"/>
            <a:ext cx="9389055" cy="5217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69816" y="386132"/>
            <a:ext cx="5418183" cy="990086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12213" y="2043901"/>
            <a:ext cx="12375920" cy="82430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5418155" cy="99008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5069900"/>
            <a:ext cx="9386690" cy="52170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28764" y="6234581"/>
            <a:ext cx="10381615" cy="3692525"/>
          </a:xfrm>
          <a:custGeom>
            <a:avLst/>
            <a:gdLst/>
            <a:ahLst/>
            <a:cxnLst/>
            <a:rect l="l" t="t" r="r" b="b"/>
            <a:pathLst>
              <a:path w="10381615" h="3692525">
                <a:moveTo>
                  <a:pt x="47625" y="0"/>
                </a:moveTo>
                <a:lnTo>
                  <a:pt x="0" y="0"/>
                </a:lnTo>
                <a:lnTo>
                  <a:pt x="0" y="3692233"/>
                </a:lnTo>
                <a:lnTo>
                  <a:pt x="47625" y="3692233"/>
                </a:lnTo>
                <a:lnTo>
                  <a:pt x="47625" y="0"/>
                </a:lnTo>
                <a:close/>
              </a:path>
              <a:path w="10381615" h="3692525">
                <a:moveTo>
                  <a:pt x="10381348" y="3644519"/>
                </a:moveTo>
                <a:lnTo>
                  <a:pt x="47637" y="3644519"/>
                </a:lnTo>
                <a:lnTo>
                  <a:pt x="47637" y="3692144"/>
                </a:lnTo>
                <a:lnTo>
                  <a:pt x="10381348" y="3692144"/>
                </a:lnTo>
                <a:lnTo>
                  <a:pt x="10381348" y="3644519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577900" y="360145"/>
            <a:ext cx="10381615" cy="3692525"/>
          </a:xfrm>
          <a:custGeom>
            <a:avLst/>
            <a:gdLst/>
            <a:ahLst/>
            <a:cxnLst/>
            <a:rect l="l" t="t" r="r" b="b"/>
            <a:pathLst>
              <a:path w="10381615" h="3692525">
                <a:moveTo>
                  <a:pt x="10016414" y="310172"/>
                </a:moveTo>
                <a:lnTo>
                  <a:pt x="9996868" y="310172"/>
                </a:lnTo>
                <a:lnTo>
                  <a:pt x="5760834" y="310083"/>
                </a:lnTo>
                <a:lnTo>
                  <a:pt x="5760834" y="357708"/>
                </a:lnTo>
                <a:lnTo>
                  <a:pt x="9968789" y="357708"/>
                </a:lnTo>
                <a:lnTo>
                  <a:pt x="9968789" y="1562188"/>
                </a:lnTo>
                <a:lnTo>
                  <a:pt x="10016414" y="1562188"/>
                </a:lnTo>
                <a:lnTo>
                  <a:pt x="10016414" y="310172"/>
                </a:lnTo>
                <a:close/>
              </a:path>
              <a:path w="10381615" h="3692525">
                <a:moveTo>
                  <a:pt x="10381323" y="0"/>
                </a:moveTo>
                <a:lnTo>
                  <a:pt x="10333698" y="0"/>
                </a:lnTo>
                <a:lnTo>
                  <a:pt x="0" y="101"/>
                </a:lnTo>
                <a:lnTo>
                  <a:pt x="0" y="47726"/>
                </a:lnTo>
                <a:lnTo>
                  <a:pt x="10333698" y="47726"/>
                </a:lnTo>
                <a:lnTo>
                  <a:pt x="10333698" y="3692233"/>
                </a:lnTo>
                <a:lnTo>
                  <a:pt x="10381323" y="3692233"/>
                </a:lnTo>
                <a:lnTo>
                  <a:pt x="10381323" y="0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93674" y="8364663"/>
            <a:ext cx="4255770" cy="1252220"/>
          </a:xfrm>
          <a:custGeom>
            <a:avLst/>
            <a:gdLst/>
            <a:ahLst/>
            <a:cxnLst/>
            <a:rect l="l" t="t" r="r" b="b"/>
            <a:pathLst>
              <a:path w="4255770" h="1252220">
                <a:moveTo>
                  <a:pt x="4255567" y="1204468"/>
                </a:moveTo>
                <a:lnTo>
                  <a:pt x="47625" y="1204468"/>
                </a:lnTo>
                <a:lnTo>
                  <a:pt x="47625" y="0"/>
                </a:lnTo>
                <a:lnTo>
                  <a:pt x="0" y="0"/>
                </a:lnTo>
                <a:lnTo>
                  <a:pt x="0" y="1252016"/>
                </a:lnTo>
                <a:lnTo>
                  <a:pt x="19545" y="1252016"/>
                </a:lnTo>
                <a:lnTo>
                  <a:pt x="4255567" y="1252093"/>
                </a:lnTo>
                <a:lnTo>
                  <a:pt x="4255567" y="1204468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6319" y="512099"/>
            <a:ext cx="10355361" cy="1777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7771" y="2467987"/>
            <a:ext cx="15405735" cy="641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16588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501" y="0"/>
              <a:ext cx="12378255" cy="82437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98944" y="0"/>
              <a:ext cx="9389055" cy="5217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69816" y="386132"/>
              <a:ext cx="5418183" cy="99008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2213" y="2043901"/>
              <a:ext cx="12375920" cy="82430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5418155" cy="99008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5069900"/>
              <a:ext cx="9386690" cy="5217099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0" y="0"/>
            <a:ext cx="3506470" cy="3336925"/>
            <a:chOff x="0" y="0"/>
            <a:chExt cx="3506470" cy="3336925"/>
          </a:xfrm>
        </p:grpSpPr>
        <p:sp>
          <p:nvSpPr>
            <p:cNvPr id="20" name="object 20"/>
            <p:cNvSpPr/>
            <p:nvPr/>
          </p:nvSpPr>
          <p:spPr>
            <a:xfrm>
              <a:off x="0" y="0"/>
              <a:ext cx="1608455" cy="2657475"/>
            </a:xfrm>
            <a:custGeom>
              <a:avLst/>
              <a:gdLst/>
              <a:ahLst/>
              <a:cxnLst/>
              <a:rect l="l" t="t" r="r" b="b"/>
              <a:pathLst>
                <a:path w="1608455" h="2657475">
                  <a:moveTo>
                    <a:pt x="1608133" y="2657264"/>
                  </a:moveTo>
                  <a:lnTo>
                    <a:pt x="0" y="2264311"/>
                  </a:lnTo>
                  <a:lnTo>
                    <a:pt x="0" y="0"/>
                  </a:lnTo>
                  <a:lnTo>
                    <a:pt x="72520" y="0"/>
                  </a:lnTo>
                  <a:lnTo>
                    <a:pt x="1608133" y="2657264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7207" y="0"/>
              <a:ext cx="579755" cy="507365"/>
            </a:xfrm>
            <a:custGeom>
              <a:avLst/>
              <a:gdLst/>
              <a:ahLst/>
              <a:cxnLst/>
              <a:rect l="l" t="t" r="r" b="b"/>
              <a:pathLst>
                <a:path w="579755" h="507365">
                  <a:moveTo>
                    <a:pt x="289845" y="507229"/>
                  </a:moveTo>
                  <a:lnTo>
                    <a:pt x="0" y="0"/>
                  </a:lnTo>
                  <a:lnTo>
                    <a:pt x="579691" y="0"/>
                  </a:lnTo>
                  <a:lnTo>
                    <a:pt x="289845" y="507229"/>
                  </a:lnTo>
                  <a:close/>
                </a:path>
              </a:pathLst>
            </a:custGeom>
            <a:solidFill>
              <a:srgbClr val="2866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958037"/>
              <a:ext cx="788035" cy="1378585"/>
            </a:xfrm>
            <a:custGeom>
              <a:avLst/>
              <a:gdLst/>
              <a:ahLst/>
              <a:cxnLst/>
              <a:rect l="l" t="t" r="r" b="b"/>
              <a:pathLst>
                <a:path w="788035" h="1378585">
                  <a:moveTo>
                    <a:pt x="0" y="1378582"/>
                  </a:moveTo>
                  <a:lnTo>
                    <a:pt x="0" y="0"/>
                  </a:lnTo>
                  <a:lnTo>
                    <a:pt x="787764" y="0"/>
                  </a:lnTo>
                  <a:lnTo>
                    <a:pt x="0" y="1378582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8332" y="88273"/>
              <a:ext cx="644525" cy="1080135"/>
            </a:xfrm>
            <a:custGeom>
              <a:avLst/>
              <a:gdLst/>
              <a:ahLst/>
              <a:cxnLst/>
              <a:rect l="l" t="t" r="r" b="b"/>
              <a:pathLst>
                <a:path w="644525" h="1080135">
                  <a:moveTo>
                    <a:pt x="644150" y="1079726"/>
                  </a:moveTo>
                  <a:lnTo>
                    <a:pt x="0" y="672779"/>
                  </a:lnTo>
                  <a:lnTo>
                    <a:pt x="425030" y="0"/>
                  </a:lnTo>
                  <a:lnTo>
                    <a:pt x="644150" y="1079726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4061" y="691331"/>
              <a:ext cx="1962149" cy="1990721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648156" y="360145"/>
            <a:ext cx="10381615" cy="3692525"/>
          </a:xfrm>
          <a:custGeom>
            <a:avLst/>
            <a:gdLst/>
            <a:ahLst/>
            <a:cxnLst/>
            <a:rect l="l" t="t" r="r" b="b"/>
            <a:pathLst>
              <a:path w="10381615" h="3692525">
                <a:moveTo>
                  <a:pt x="10333698" y="101"/>
                </a:moveTo>
                <a:lnTo>
                  <a:pt x="0" y="101"/>
                </a:lnTo>
                <a:lnTo>
                  <a:pt x="0" y="47726"/>
                </a:lnTo>
                <a:lnTo>
                  <a:pt x="10333698" y="47726"/>
                </a:lnTo>
                <a:lnTo>
                  <a:pt x="10333698" y="101"/>
                </a:lnTo>
                <a:close/>
              </a:path>
              <a:path w="10381615" h="3692525">
                <a:moveTo>
                  <a:pt x="10381361" y="0"/>
                </a:moveTo>
                <a:lnTo>
                  <a:pt x="10333736" y="0"/>
                </a:lnTo>
                <a:lnTo>
                  <a:pt x="10333736" y="3692233"/>
                </a:lnTo>
                <a:lnTo>
                  <a:pt x="10381361" y="3692233"/>
                </a:lnTo>
                <a:lnTo>
                  <a:pt x="10381361" y="0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711312" y="691328"/>
            <a:ext cx="1786127" cy="176131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99046" y="6234581"/>
            <a:ext cx="10381615" cy="3692525"/>
          </a:xfrm>
          <a:custGeom>
            <a:avLst/>
            <a:gdLst/>
            <a:ahLst/>
            <a:cxnLst/>
            <a:rect l="l" t="t" r="r" b="b"/>
            <a:pathLst>
              <a:path w="10381615" h="3692525">
                <a:moveTo>
                  <a:pt x="47625" y="0"/>
                </a:moveTo>
                <a:lnTo>
                  <a:pt x="0" y="0"/>
                </a:lnTo>
                <a:lnTo>
                  <a:pt x="0" y="3692233"/>
                </a:lnTo>
                <a:lnTo>
                  <a:pt x="47625" y="3692233"/>
                </a:lnTo>
                <a:lnTo>
                  <a:pt x="47625" y="0"/>
                </a:lnTo>
                <a:close/>
              </a:path>
              <a:path w="10381615" h="3692525">
                <a:moveTo>
                  <a:pt x="10381348" y="3644519"/>
                </a:moveTo>
                <a:lnTo>
                  <a:pt x="47650" y="3644519"/>
                </a:lnTo>
                <a:lnTo>
                  <a:pt x="47650" y="3692144"/>
                </a:lnTo>
                <a:lnTo>
                  <a:pt x="10381348" y="3692144"/>
                </a:lnTo>
                <a:lnTo>
                  <a:pt x="10381348" y="3644519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3968" y="8364663"/>
            <a:ext cx="4255770" cy="1252220"/>
          </a:xfrm>
          <a:custGeom>
            <a:avLst/>
            <a:gdLst/>
            <a:ahLst/>
            <a:cxnLst/>
            <a:rect l="l" t="t" r="r" b="b"/>
            <a:pathLst>
              <a:path w="4255770" h="1252220">
                <a:moveTo>
                  <a:pt x="4255554" y="1204468"/>
                </a:moveTo>
                <a:lnTo>
                  <a:pt x="47625" y="1204468"/>
                </a:lnTo>
                <a:lnTo>
                  <a:pt x="47625" y="0"/>
                </a:lnTo>
                <a:lnTo>
                  <a:pt x="0" y="0"/>
                </a:lnTo>
                <a:lnTo>
                  <a:pt x="0" y="1252016"/>
                </a:lnTo>
                <a:lnTo>
                  <a:pt x="19532" y="1252016"/>
                </a:lnTo>
                <a:lnTo>
                  <a:pt x="4255554" y="1252093"/>
                </a:lnTo>
                <a:lnTo>
                  <a:pt x="4255554" y="1204468"/>
                </a:lnTo>
                <a:close/>
              </a:path>
            </a:pathLst>
          </a:custGeom>
          <a:solidFill>
            <a:srgbClr val="174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3055941" y="4747824"/>
            <a:ext cx="5232400" cy="5539740"/>
            <a:chOff x="13055941" y="4747824"/>
            <a:chExt cx="5232400" cy="5539740"/>
          </a:xfrm>
        </p:grpSpPr>
        <p:sp>
          <p:nvSpPr>
            <p:cNvPr id="14" name="object 14"/>
            <p:cNvSpPr/>
            <p:nvPr/>
          </p:nvSpPr>
          <p:spPr>
            <a:xfrm>
              <a:off x="16207972" y="6253204"/>
              <a:ext cx="2080260" cy="3599815"/>
            </a:xfrm>
            <a:custGeom>
              <a:avLst/>
              <a:gdLst/>
              <a:ahLst/>
              <a:cxnLst/>
              <a:rect l="l" t="t" r="r" b="b"/>
              <a:pathLst>
                <a:path w="2080259" h="3599815">
                  <a:moveTo>
                    <a:pt x="0" y="0"/>
                  </a:moveTo>
                  <a:lnTo>
                    <a:pt x="2080025" y="508261"/>
                  </a:lnTo>
                  <a:lnTo>
                    <a:pt x="2080025" y="3599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66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242484" y="8403213"/>
              <a:ext cx="2045970" cy="1884045"/>
            </a:xfrm>
            <a:custGeom>
              <a:avLst/>
              <a:gdLst/>
              <a:ahLst/>
              <a:cxnLst/>
              <a:rect l="l" t="t" r="r" b="b"/>
              <a:pathLst>
                <a:path w="2045969" h="1884045">
                  <a:moveTo>
                    <a:pt x="1076434" y="0"/>
                  </a:moveTo>
                  <a:lnTo>
                    <a:pt x="2045516" y="1695915"/>
                  </a:lnTo>
                  <a:lnTo>
                    <a:pt x="2045516" y="1883786"/>
                  </a:lnTo>
                  <a:lnTo>
                    <a:pt x="0" y="1883786"/>
                  </a:lnTo>
                  <a:lnTo>
                    <a:pt x="1076434" y="0"/>
                  </a:lnTo>
                  <a:close/>
                </a:path>
              </a:pathLst>
            </a:custGeom>
            <a:solidFill>
              <a:srgbClr val="1740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028231" y="4747824"/>
              <a:ext cx="1259840" cy="2204720"/>
            </a:xfrm>
            <a:custGeom>
              <a:avLst/>
              <a:gdLst/>
              <a:ahLst/>
              <a:cxnLst/>
              <a:rect l="l" t="t" r="r" b="b"/>
              <a:pathLst>
                <a:path w="1259840" h="2204720">
                  <a:moveTo>
                    <a:pt x="1259769" y="0"/>
                  </a:moveTo>
                  <a:lnTo>
                    <a:pt x="1259769" y="2204602"/>
                  </a:lnTo>
                  <a:lnTo>
                    <a:pt x="0" y="2204605"/>
                  </a:lnTo>
                  <a:lnTo>
                    <a:pt x="1259769" y="0"/>
                  </a:lnTo>
                  <a:close/>
                </a:path>
              </a:pathLst>
            </a:custGeom>
            <a:solidFill>
              <a:srgbClr val="3D52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55930" y="7742503"/>
              <a:ext cx="4263390" cy="2545080"/>
            </a:xfrm>
            <a:custGeom>
              <a:avLst/>
              <a:gdLst/>
              <a:ahLst/>
              <a:cxnLst/>
              <a:rect l="l" t="t" r="r" b="b"/>
              <a:pathLst>
                <a:path w="4263390" h="2545079">
                  <a:moveTo>
                    <a:pt x="3971747" y="406958"/>
                  </a:moveTo>
                  <a:lnTo>
                    <a:pt x="3327577" y="0"/>
                  </a:lnTo>
                  <a:lnTo>
                    <a:pt x="3546703" y="1079728"/>
                  </a:lnTo>
                  <a:lnTo>
                    <a:pt x="3971747" y="406958"/>
                  </a:lnTo>
                  <a:close/>
                </a:path>
                <a:path w="4263390" h="2545079">
                  <a:moveTo>
                    <a:pt x="4263009" y="1868335"/>
                  </a:moveTo>
                  <a:lnTo>
                    <a:pt x="551281" y="1868335"/>
                  </a:lnTo>
                  <a:lnTo>
                    <a:pt x="0" y="2544495"/>
                  </a:lnTo>
                  <a:lnTo>
                    <a:pt x="3711740" y="2544495"/>
                  </a:lnTo>
                  <a:lnTo>
                    <a:pt x="4263009" y="1868335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370118" y="8945673"/>
              <a:ext cx="679450" cy="493395"/>
            </a:xfrm>
            <a:custGeom>
              <a:avLst/>
              <a:gdLst/>
              <a:ahLst/>
              <a:cxnLst/>
              <a:rect l="l" t="t" r="r" b="b"/>
              <a:pathLst>
                <a:path w="679450" h="493395">
                  <a:moveTo>
                    <a:pt x="0" y="492808"/>
                  </a:moveTo>
                  <a:lnTo>
                    <a:pt x="164363" y="0"/>
                  </a:lnTo>
                  <a:lnTo>
                    <a:pt x="679048" y="171682"/>
                  </a:lnTo>
                  <a:lnTo>
                    <a:pt x="0" y="492808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02535" y="3371087"/>
            <a:ext cx="15392400" cy="2084832"/>
          </a:xfrm>
          <a:prstGeom prst="rect">
            <a:avLst/>
          </a:prstGeom>
        </p:spPr>
      </p:pic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1993277" y="3284226"/>
            <a:ext cx="15210155" cy="1925955"/>
          </a:xfrm>
          <a:prstGeom prst="rect">
            <a:avLst/>
          </a:prstGeom>
        </p:spPr>
        <p:txBody>
          <a:bodyPr vert="horz" wrap="square" lIns="54864" tIns="54864" rIns="54864" bIns="54864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spcAft>
                <a:spcPts val="500"/>
              </a:spcAft>
            </a:pPr>
            <a:r>
              <a:rPr sz="12450" b="0" spc="2280" dirty="0">
                <a:latin typeface="Aptos"/>
                <a:cs typeface="Cambria"/>
              </a:rPr>
              <a:t>HACKCONQUEST</a:t>
            </a:r>
            <a:endParaRPr sz="1245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12791" y="1670303"/>
            <a:ext cx="9418320" cy="6960234"/>
            <a:chOff x="4812791" y="1670303"/>
            <a:chExt cx="9418320" cy="6960234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12791" y="5373623"/>
              <a:ext cx="9418319" cy="15910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54800" y="2610246"/>
              <a:ext cx="5857859" cy="60197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5975" y="1670303"/>
              <a:ext cx="5897880" cy="154228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783151" y="1602092"/>
            <a:ext cx="5622290" cy="1504315"/>
          </a:xfrm>
          <a:prstGeom prst="rect">
            <a:avLst/>
          </a:prstGeom>
        </p:spPr>
        <p:txBody>
          <a:bodyPr vert="horz" wrap="square" lIns="54864" tIns="54864" rIns="54864" bIns="54864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9700" spc="1365" dirty="0">
                <a:solidFill>
                  <a:srgbClr val="16588E"/>
                </a:solidFill>
                <a:latin typeface="Aptos"/>
                <a:cs typeface="Cambria"/>
              </a:rPr>
              <a:t>AETHER</a:t>
            </a:r>
            <a:endParaRPr sz="97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30440" y="6760464"/>
            <a:ext cx="4038600" cy="1901952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822799" y="5296816"/>
            <a:ext cx="9380220" cy="3232150"/>
          </a:xfrm>
          <a:prstGeom prst="rect">
            <a:avLst/>
          </a:prstGeom>
        </p:spPr>
        <p:txBody>
          <a:bodyPr vert="horz" wrap="square" lIns="54864" tIns="54864" rIns="54864" bIns="54864" rtlCol="0" anchor="t">
            <a:spAutoFit/>
          </a:bodyPr>
          <a:lstStyle/>
          <a:p>
            <a:pPr marL="12700">
              <a:lnSpc>
                <a:spcPts val="11425"/>
              </a:lnSpc>
              <a:spcBef>
                <a:spcPts val="100"/>
              </a:spcBef>
              <a:spcAft>
                <a:spcPts val="500"/>
              </a:spcAft>
            </a:pPr>
            <a:r>
              <a:rPr sz="10000" spc="1760" dirty="0">
                <a:solidFill>
                  <a:srgbClr val="16588E"/>
                </a:solidFill>
                <a:latin typeface="Aptos"/>
                <a:cs typeface="Cambria"/>
              </a:rPr>
              <a:t>HACKATHON</a:t>
            </a:r>
            <a:endParaRPr sz="10000">
              <a:latin typeface="Cambria"/>
              <a:cs typeface="Cambria"/>
            </a:endParaRPr>
          </a:p>
          <a:p>
            <a:pPr marR="279400" algn="ctr">
              <a:lnSpc>
                <a:spcPts val="13825"/>
              </a:lnSpc>
              <a:spcAft>
                <a:spcPts val="500"/>
              </a:spcAft>
            </a:pPr>
            <a:r>
              <a:rPr sz="12000" cap="small" spc="710" dirty="0">
                <a:solidFill>
                  <a:srgbClr val="16588E"/>
                </a:solidFill>
                <a:latin typeface="Aptos"/>
                <a:cs typeface="Cambria"/>
              </a:rPr>
              <a:t>2</a:t>
            </a:r>
            <a:r>
              <a:rPr sz="12000" spc="710" dirty="0">
                <a:solidFill>
                  <a:srgbClr val="16588E"/>
                </a:solidFill>
                <a:latin typeface="Aptos"/>
                <a:cs typeface="Cambria"/>
              </a:rPr>
              <a:t>0</a:t>
            </a:r>
            <a:r>
              <a:rPr sz="12000" cap="small" spc="710" dirty="0">
                <a:solidFill>
                  <a:srgbClr val="16588E"/>
                </a:solidFill>
                <a:latin typeface="Aptos"/>
                <a:cs typeface="Cambria"/>
              </a:rPr>
              <a:t>2</a:t>
            </a:r>
            <a:r>
              <a:rPr sz="12000" spc="710" dirty="0">
                <a:solidFill>
                  <a:srgbClr val="16588E"/>
                </a:solidFill>
                <a:latin typeface="Aptos"/>
                <a:cs typeface="Cambria"/>
              </a:rPr>
              <a:t>6</a:t>
            </a:r>
            <a:endParaRPr sz="12000">
              <a:latin typeface="Cambria"/>
              <a:cs typeface="Cambri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8183879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ALIGNME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875995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DCE6F2"/>
                </a:solidFill>
                <a:latin typeface="Aptos"/>
              </a:rPr>
              <a:t>Real-Time Posture Monitoring &amp; Correction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9280" y="545664"/>
            <a:ext cx="694944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ALIGNME</a:t>
            </a:r>
            <a:endParaRPr sz="4000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4799" y="2610245"/>
            <a:ext cx="5857859" cy="601979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592" y="8487169"/>
            <a:ext cx="142875" cy="14287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728442" y="2670048"/>
            <a:ext cx="5715635" cy="696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5" name="object 5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891665" y="1863391"/>
            <a:ext cx="277560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3A7EE6"/>
                </a:solidFill>
                <a:latin typeface="Aptos"/>
              </a:rPr>
              <a:t>TEAM</a:t>
            </a:r>
            <a:r>
              <a:rPr lang="en-US" sz="3200" b="1" dirty="0">
                <a:solidFill>
                  <a:srgbClr val="3A7EE6"/>
                </a:solidFill>
                <a:latin typeface="Aptos"/>
              </a:rPr>
              <a:t> </a:t>
            </a:r>
            <a:r>
              <a:rPr sz="1200" b="1" dirty="0">
                <a:solidFill>
                  <a:srgbClr val="3A7EE6"/>
                </a:solidFill>
                <a:latin typeface="Aptos"/>
              </a:rPr>
              <a:t> </a:t>
            </a:r>
            <a:r>
              <a:rPr sz="3200" b="1" dirty="0">
                <a:solidFill>
                  <a:srgbClr val="3A7EE6"/>
                </a:solidFill>
                <a:latin typeface="Aptos"/>
              </a:rPr>
              <a:t>NAME</a:t>
            </a:r>
            <a:r>
              <a:rPr lang="en-US" sz="3200" b="1" dirty="0">
                <a:solidFill>
                  <a:srgbClr val="3A7EE6"/>
                </a:solidFill>
                <a:latin typeface="Aptos"/>
              </a:rPr>
              <a:t>:</a:t>
            </a:r>
            <a:endParaRPr sz="1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03520" y="1831464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3200" b="1" dirty="0">
                <a:solidFill>
                  <a:srgbClr val="182D4B"/>
                </a:solidFill>
                <a:latin typeface="Aptos"/>
              </a:rPr>
              <a:t>Tech Titans</a:t>
            </a:r>
            <a:endParaRPr sz="3200" b="1" dirty="0">
              <a:solidFill>
                <a:srgbClr val="182D4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16620" y="2526426"/>
            <a:ext cx="30363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3A7EE6"/>
                </a:solidFill>
                <a:latin typeface="Aptos"/>
              </a:rPr>
              <a:t>LEADER NAME</a:t>
            </a:r>
            <a:r>
              <a:rPr lang="en-US" sz="3200" b="1" dirty="0">
                <a:solidFill>
                  <a:srgbClr val="3A7EE6"/>
                </a:solidFill>
                <a:latin typeface="Aptos"/>
              </a:rPr>
              <a:t>:</a:t>
            </a:r>
            <a:endParaRPr sz="3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0283" y="2501711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3200" b="0" dirty="0">
                <a:solidFill>
                  <a:srgbClr val="26303E"/>
                </a:solidFill>
                <a:latin typeface="Aptos"/>
              </a:rPr>
              <a:t>Mihir </a:t>
            </a:r>
            <a:r>
              <a:rPr lang="en-US" sz="3200" b="0" dirty="0" err="1">
                <a:solidFill>
                  <a:srgbClr val="26303E"/>
                </a:solidFill>
                <a:latin typeface="Aptos"/>
              </a:rPr>
              <a:t>Kamat</a:t>
            </a:r>
            <a:endParaRPr sz="3200" b="0" dirty="0">
              <a:solidFill>
                <a:srgbClr val="26303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05000" y="3203257"/>
            <a:ext cx="317111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3A7EE6"/>
                </a:solidFill>
                <a:latin typeface="Aptos"/>
              </a:rPr>
              <a:t>COLLEGE NAME</a:t>
            </a:r>
            <a:r>
              <a:rPr lang="en-US" sz="3200" b="1" dirty="0">
                <a:solidFill>
                  <a:srgbClr val="3A7EE6"/>
                </a:solidFill>
                <a:latin typeface="Aptos"/>
              </a:rPr>
              <a:t>:</a:t>
            </a:r>
            <a:endParaRPr sz="3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0283" y="3133056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3200" dirty="0" err="1">
                <a:solidFill>
                  <a:srgbClr val="26303E"/>
                </a:solidFill>
                <a:latin typeface="Aptos"/>
              </a:rPr>
              <a:t>Thadomal</a:t>
            </a:r>
            <a:r>
              <a:rPr lang="en-US" sz="3200" dirty="0">
                <a:solidFill>
                  <a:srgbClr val="26303E"/>
                </a:solidFill>
                <a:latin typeface="Aptos"/>
              </a:rPr>
              <a:t> Shahani Engineering College</a:t>
            </a:r>
            <a:endParaRPr sz="3600" b="0" dirty="0">
              <a:solidFill>
                <a:srgbClr val="26303E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91603" y="4027140"/>
            <a:ext cx="303638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3A7EE6"/>
                </a:solidFill>
                <a:latin typeface="Aptos"/>
              </a:rPr>
              <a:t>IDEA / PROJECT TITLE</a:t>
            </a:r>
            <a:r>
              <a:rPr lang="en-US" sz="3200" b="1" dirty="0">
                <a:solidFill>
                  <a:srgbClr val="3A7EE6"/>
                </a:solidFill>
                <a:latin typeface="Aptos"/>
              </a:rPr>
              <a:t>:</a:t>
            </a:r>
            <a:endParaRPr sz="3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74883" y="3995830"/>
            <a:ext cx="10439398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dirty="0" err="1">
                <a:solidFill>
                  <a:srgbClr val="182D4B"/>
                </a:solidFill>
                <a:latin typeface="Aptos"/>
              </a:rPr>
              <a:t>AlignMe</a:t>
            </a:r>
            <a:r>
              <a:rPr sz="1700" b="1" dirty="0">
                <a:solidFill>
                  <a:srgbClr val="182D4B"/>
                </a:solidFill>
                <a:latin typeface="Aptos"/>
              </a:rPr>
              <a:t> – </a:t>
            </a:r>
            <a:r>
              <a:rPr sz="3600" b="1" dirty="0">
                <a:solidFill>
                  <a:srgbClr val="182D4B"/>
                </a:solidFill>
                <a:latin typeface="Aptos"/>
              </a:rPr>
              <a:t>Real-Time</a:t>
            </a:r>
            <a:r>
              <a:rPr sz="1700" b="1" dirty="0">
                <a:solidFill>
                  <a:srgbClr val="182D4B"/>
                </a:solidFill>
                <a:latin typeface="Aptos"/>
              </a:rPr>
              <a:t> </a:t>
            </a:r>
            <a:r>
              <a:rPr sz="3200" b="1" dirty="0">
                <a:solidFill>
                  <a:srgbClr val="182D4B"/>
                </a:solidFill>
                <a:latin typeface="Aptos"/>
              </a:rPr>
              <a:t>Posture</a:t>
            </a:r>
            <a:r>
              <a:rPr sz="1700" b="1" dirty="0">
                <a:solidFill>
                  <a:srgbClr val="182D4B"/>
                </a:solidFill>
                <a:latin typeface="Aptos"/>
              </a:rPr>
              <a:t> </a:t>
            </a:r>
            <a:r>
              <a:rPr sz="3200" b="1" dirty="0">
                <a:solidFill>
                  <a:srgbClr val="182D4B"/>
                </a:solidFill>
                <a:latin typeface="Aptos"/>
              </a:rPr>
              <a:t>Monitorin</a:t>
            </a:r>
            <a:r>
              <a:rPr lang="en-US" sz="3200" b="1" dirty="0">
                <a:solidFill>
                  <a:srgbClr val="182D4B"/>
                </a:solidFill>
                <a:latin typeface="Aptos"/>
              </a:rPr>
              <a:t>g &amp;</a:t>
            </a:r>
            <a:r>
              <a:rPr sz="1700" b="1" dirty="0">
                <a:solidFill>
                  <a:srgbClr val="182D4B"/>
                </a:solidFill>
                <a:latin typeface="Aptos"/>
              </a:rPr>
              <a:t> </a:t>
            </a:r>
            <a:r>
              <a:rPr sz="3200" b="1" dirty="0">
                <a:solidFill>
                  <a:srgbClr val="182D4B"/>
                </a:solidFill>
                <a:latin typeface="Aptos"/>
              </a:rPr>
              <a:t>Correction</a:t>
            </a:r>
            <a:endParaRPr sz="1700" b="1" dirty="0">
              <a:solidFill>
                <a:srgbClr val="182D4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57079" y="5256184"/>
            <a:ext cx="201168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dirty="0">
                <a:solidFill>
                  <a:srgbClr val="3A7EE6"/>
                </a:solidFill>
                <a:latin typeface="Aptos"/>
              </a:rPr>
              <a:t>THEME</a:t>
            </a:r>
            <a:endParaRPr sz="1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57800" y="5189722"/>
            <a:ext cx="73152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 dirty="0">
                <a:solidFill>
                  <a:srgbClr val="26303E"/>
                </a:solidFill>
                <a:latin typeface="Aptos"/>
              </a:rPr>
              <a:t>Health, Productivity &amp; Computer 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7079" y="6054341"/>
            <a:ext cx="2927475" cy="1046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3A7EE6"/>
                </a:solidFill>
                <a:latin typeface="Aptos"/>
              </a:rPr>
              <a:t>PROBLEM </a:t>
            </a:r>
            <a:r>
              <a:rPr sz="3600" b="1" dirty="0">
                <a:solidFill>
                  <a:srgbClr val="3A7EE6"/>
                </a:solidFill>
                <a:latin typeface="Aptos"/>
              </a:rPr>
              <a:t>STATEMENT</a:t>
            </a:r>
            <a:endParaRPr sz="3200" b="1" dirty="0">
              <a:solidFill>
                <a:srgbClr val="3A7EE6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9482" y="6054341"/>
            <a:ext cx="10439399" cy="15142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 dirty="0">
                <a:solidFill>
                  <a:srgbClr val="26303E"/>
                </a:solidFill>
                <a:latin typeface="Aptos"/>
              </a:rPr>
              <a:t>Prolonged poor sitting posture often goes unnoticed during work or study. Users need timely, non-intrusive feedback to recognize and correct posture in real time.</a:t>
            </a:r>
          </a:p>
        </p:txBody>
      </p:sp>
      <p:grpSp>
        <p:nvGrpSpPr>
          <p:cNvPr id="31" name="object 9">
            <a:extLst>
              <a:ext uri="{FF2B5EF4-FFF2-40B4-BE49-F238E27FC236}">
                <a16:creationId xmlns:a16="http://schemas.microsoft.com/office/drawing/2014/main" id="{3D96E6FD-E7FB-41DA-98BA-BB7B9DCBF0D1}"/>
              </a:ext>
            </a:extLst>
          </p:cNvPr>
          <p:cNvGrpSpPr/>
          <p:nvPr/>
        </p:nvGrpSpPr>
        <p:grpSpPr>
          <a:xfrm>
            <a:off x="0" y="-60960"/>
            <a:ext cx="3030220" cy="3322320"/>
            <a:chOff x="0" y="0"/>
            <a:chExt cx="3030220" cy="3322320"/>
          </a:xfrm>
        </p:grpSpPr>
        <p:sp>
          <p:nvSpPr>
            <p:cNvPr id="32" name="object 10">
              <a:extLst>
                <a:ext uri="{FF2B5EF4-FFF2-40B4-BE49-F238E27FC236}">
                  <a16:creationId xmlns:a16="http://schemas.microsoft.com/office/drawing/2014/main" id="{BA58D430-8D78-4641-9002-227EB058490F}"/>
                </a:ext>
              </a:extLst>
            </p:cNvPr>
            <p:cNvSpPr/>
            <p:nvPr/>
          </p:nvSpPr>
          <p:spPr>
            <a:xfrm>
              <a:off x="0" y="0"/>
              <a:ext cx="1876425" cy="3322320"/>
            </a:xfrm>
            <a:custGeom>
              <a:avLst/>
              <a:gdLst/>
              <a:ahLst/>
              <a:cxnLst/>
              <a:rect l="l" t="t" r="r" b="b"/>
              <a:pathLst>
                <a:path w="1876425" h="3322320">
                  <a:moveTo>
                    <a:pt x="0" y="3321737"/>
                  </a:moveTo>
                  <a:lnTo>
                    <a:pt x="0" y="0"/>
                  </a:lnTo>
                  <a:lnTo>
                    <a:pt x="1876169" y="0"/>
                  </a:lnTo>
                  <a:lnTo>
                    <a:pt x="0" y="3321737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1">
              <a:extLst>
                <a:ext uri="{FF2B5EF4-FFF2-40B4-BE49-F238E27FC236}">
                  <a16:creationId xmlns:a16="http://schemas.microsoft.com/office/drawing/2014/main" id="{DA86E062-6B74-4082-B889-7853AA3228AF}"/>
                </a:ext>
              </a:extLst>
            </p:cNvPr>
            <p:cNvSpPr/>
            <p:nvPr/>
          </p:nvSpPr>
          <p:spPr>
            <a:xfrm>
              <a:off x="0" y="0"/>
              <a:ext cx="3030220" cy="745490"/>
            </a:xfrm>
            <a:custGeom>
              <a:avLst/>
              <a:gdLst/>
              <a:ahLst/>
              <a:cxnLst/>
              <a:rect l="l" t="t" r="r" b="b"/>
              <a:pathLst>
                <a:path w="3030220" h="745490">
                  <a:moveTo>
                    <a:pt x="2469343" y="744930"/>
                  </a:moveTo>
                  <a:lnTo>
                    <a:pt x="0" y="744930"/>
                  </a:lnTo>
                  <a:lnTo>
                    <a:pt x="0" y="0"/>
                  </a:lnTo>
                  <a:lnTo>
                    <a:pt x="3029625" y="0"/>
                  </a:lnTo>
                  <a:lnTo>
                    <a:pt x="2469343" y="744930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9A976E99-7A7B-4600-B569-FEC8D2959AA3}"/>
                </a:ext>
              </a:extLst>
            </p:cNvPr>
            <p:cNvSpPr/>
            <p:nvPr/>
          </p:nvSpPr>
          <p:spPr>
            <a:xfrm>
              <a:off x="611209" y="1147903"/>
              <a:ext cx="1245870" cy="1103630"/>
            </a:xfrm>
            <a:custGeom>
              <a:avLst/>
              <a:gdLst/>
              <a:ahLst/>
              <a:cxnLst/>
              <a:rect l="l" t="t" r="r" b="b"/>
              <a:pathLst>
                <a:path w="1245870" h="1103630">
                  <a:moveTo>
                    <a:pt x="623203" y="1103373"/>
                  </a:moveTo>
                  <a:lnTo>
                    <a:pt x="0" y="0"/>
                  </a:lnTo>
                  <a:lnTo>
                    <a:pt x="1245607" y="0"/>
                  </a:lnTo>
                  <a:lnTo>
                    <a:pt x="1245607" y="1415"/>
                  </a:lnTo>
                  <a:lnTo>
                    <a:pt x="623203" y="1103373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200400" y="629524"/>
            <a:ext cx="11887200" cy="46916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624455" marR="5080" indent="-2030730" algn="ctr">
              <a:lnSpc>
                <a:spcPct val="72900"/>
              </a:lnSpc>
              <a:spcBef>
                <a:spcPts val="2050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PROBLEM STATEMENT &amp; ROOT CAUSE</a:t>
            </a:r>
            <a:endParaRPr sz="4000" dirty="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6137" y="4223193"/>
            <a:ext cx="142875" cy="1428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6137" y="5909118"/>
            <a:ext cx="142875" cy="1428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76137" y="7175943"/>
            <a:ext cx="142875" cy="1428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3654" y="1950720"/>
            <a:ext cx="5857859" cy="6019799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0561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87" y="8240331"/>
              <a:ext cx="4240530" cy="2047239"/>
            </a:xfrm>
            <a:custGeom>
              <a:avLst/>
              <a:gdLst/>
              <a:ahLst/>
              <a:cxnLst/>
              <a:rect l="l" t="t" r="r" b="b"/>
              <a:pathLst>
                <a:path w="4240530" h="2047240">
                  <a:moveTo>
                    <a:pt x="3392259" y="1017917"/>
                  </a:moveTo>
                  <a:lnTo>
                    <a:pt x="2810611" y="0"/>
                  </a:lnTo>
                  <a:lnTo>
                    <a:pt x="2228964" y="1017917"/>
                  </a:lnTo>
                  <a:lnTo>
                    <a:pt x="3392259" y="1017917"/>
                  </a:lnTo>
                  <a:close/>
                </a:path>
                <a:path w="4240530" h="2047240">
                  <a:moveTo>
                    <a:pt x="4240212" y="1213167"/>
                  </a:moveTo>
                  <a:lnTo>
                    <a:pt x="679577" y="1213167"/>
                  </a:lnTo>
                  <a:lnTo>
                    <a:pt x="0" y="2046668"/>
                  </a:lnTo>
                  <a:lnTo>
                    <a:pt x="3560673" y="2046668"/>
                  </a:lnTo>
                  <a:lnTo>
                    <a:pt x="4240212" y="1213167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14973" y="3744298"/>
            <a:ext cx="14128115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endParaRPr sz="4000">
              <a:latin typeface="Times New Roman"/>
              <a:cs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12015" y="2413733"/>
            <a:ext cx="5166360" cy="525780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D3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22941" y="2878006"/>
            <a:ext cx="4572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3A7EE6"/>
                </a:solidFill>
                <a:latin typeface="Aptos"/>
              </a:rPr>
              <a:t>REAL-WORLD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2281" y="3702927"/>
            <a:ext cx="4572000" cy="16989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b="0" dirty="0">
                <a:solidFill>
                  <a:srgbClr val="26303E"/>
                </a:solidFill>
                <a:latin typeface="Aptos"/>
              </a:rPr>
              <a:t>People who spend long hours working or studying at a desk may gradually slip into poor sitting positions without noticing. Because the correction usually happens only after discomfort, unhealthy posture can become a repeated habit.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2941" y="5747282"/>
            <a:ext cx="45720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b="1">
                <a:solidFill>
                  <a:srgbClr val="182D4B"/>
                </a:solidFill>
                <a:latin typeface="Aptos"/>
              </a:rPr>
              <a:t>Affected stakeholders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2941" y="6167906"/>
            <a:ext cx="4572000" cy="8576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b="0">
                <a:solidFill>
                  <a:srgbClr val="26303E"/>
                </a:solidFill>
                <a:latin typeface="Aptos"/>
              </a:rPr>
              <a:t>• Students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b="0">
                <a:solidFill>
                  <a:srgbClr val="26303E"/>
                </a:solidFill>
                <a:latin typeface="Aptos"/>
              </a:rPr>
              <a:t>• Office / remote workers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b="0">
                <a:solidFill>
                  <a:srgbClr val="26303E"/>
                </a:solidFill>
                <a:latin typeface="Aptos"/>
              </a:rPr>
              <a:t>• Frequent computer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74754" y="2426433"/>
            <a:ext cx="5305119" cy="5029207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8774" y="3014828"/>
            <a:ext cx="4572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dirty="0">
                <a:solidFill>
                  <a:srgbClr val="2CB57E"/>
                </a:solidFill>
                <a:latin typeface="Aptos"/>
              </a:rPr>
              <a:t>ROOT CAUSES &amp; PAIN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8774" y="3683676"/>
            <a:ext cx="4572000" cy="177074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6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Low awareness while concentrating on tasks</a:t>
            </a:r>
          </a:p>
          <a:p>
            <a:pPr algn="l">
              <a:spcAft>
                <a:spcPts val="500"/>
              </a:spcAft>
              <a:defRPr sz="16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Long, uninterrupted periods of sitting</a:t>
            </a:r>
          </a:p>
          <a:p>
            <a:pPr algn="l">
              <a:spcAft>
                <a:spcPts val="500"/>
              </a:spcAft>
              <a:defRPr sz="16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Slouching or leaning toward the screen</a:t>
            </a:r>
          </a:p>
          <a:p>
            <a:pPr algn="l">
              <a:spcAft>
                <a:spcPts val="500"/>
              </a:spcAft>
              <a:defRPr sz="16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No continuous posture feedback</a:t>
            </a:r>
          </a:p>
          <a:p>
            <a:pPr algn="l">
              <a:spcAft>
                <a:spcPts val="500"/>
              </a:spcAft>
              <a:defRPr sz="16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Users often notice the problem only after discomfort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4663" y="5645536"/>
            <a:ext cx="45720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dirty="0">
                <a:solidFill>
                  <a:srgbClr val="182D4B"/>
                </a:solidFill>
                <a:latin typeface="Aptos"/>
              </a:rPr>
              <a:t>SHORTCOMINGS OF CURRENT APPROACHES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4582" y="6011296"/>
            <a:ext cx="4572000" cy="593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Manual self-checks are easy to forget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Periodic reminders do not verify actual posture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F14E70-50B2-DD4B-C5E3-37A2135CB7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172950"/>
            <a:ext cx="10744200" cy="794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9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657600" y="556331"/>
            <a:ext cx="1097280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14400" algn="ctr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PROPOSED SOLUTION</a:t>
            </a:r>
            <a:endParaRPr sz="4000" dirty="0"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392" y="3373811"/>
            <a:ext cx="142875" cy="1428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392" y="4783511"/>
            <a:ext cx="142875" cy="1428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6392" y="6898062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033" y="2037602"/>
            <a:ext cx="5857859" cy="6019799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56200" y="2991460"/>
            <a:ext cx="13348335" cy="486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000">
              <a:latin typeface="Times New Roman"/>
              <a:cs typeface="Times New Roman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08163" y="2229599"/>
            <a:ext cx="5166360" cy="534924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D3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82483" y="2595359"/>
            <a:ext cx="475488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3A7EE6"/>
                </a:solidFill>
                <a:latin typeface="Aptos"/>
              </a:rPr>
              <a:t>HIGH-LEVEL CONCEPT &amp;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2483" y="3189719"/>
            <a:ext cx="475488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b="0" dirty="0" err="1">
                <a:solidFill>
                  <a:srgbClr val="26303E"/>
                </a:solidFill>
                <a:latin typeface="Aptos"/>
              </a:rPr>
              <a:t>AlignMe</a:t>
            </a:r>
            <a:r>
              <a:rPr b="0" dirty="0">
                <a:solidFill>
                  <a:srgbClr val="26303E"/>
                </a:solidFill>
                <a:latin typeface="Aptos"/>
              </a:rPr>
              <a:t> continuously observes the user's sitting posture through a webcam, checks body alignment, and gives immediate visual feedback when a posture needs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2483" y="4817351"/>
            <a:ext cx="475488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Core value proposition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2483" y="5201399"/>
            <a:ext cx="4754880" cy="1396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Real-time awareness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Non-intrusive correction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Works during normal work/study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367" y="2229599"/>
            <a:ext cx="5166360" cy="534924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63337" y="2555488"/>
            <a:ext cx="475488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dirty="0">
                <a:solidFill>
                  <a:srgbClr val="2CB57E"/>
                </a:solidFill>
                <a:latin typeface="Aptos"/>
              </a:rPr>
              <a:t>DIFFERENTIATING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9533" y="3251711"/>
            <a:ext cx="4754880" cy="25094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Continuous posture-aware feedback instead of generic timed reminders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Focuses on actionable correction at the moment poor posture is detected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Simple browser-first experience with minimal user effort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Designed for students and desk-based workers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600" b="0" dirty="0">
                <a:solidFill>
                  <a:srgbClr val="26303E"/>
                </a:solidFill>
                <a:latin typeface="Aptos"/>
              </a:rPr>
              <a:t>• Can evolve from basic posture checks to personalized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9533" y="5950640"/>
            <a:ext cx="475488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Functional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0615" y="6350576"/>
            <a:ext cx="475488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b="1" dirty="0">
                <a:solidFill>
                  <a:srgbClr val="182D4B"/>
                </a:solidFill>
                <a:latin typeface="Aptos"/>
              </a:rPr>
              <a:t>WEBCAM  →  POSE DATA  →  POSTURE CHECK  → 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DA72F-1F17-2F00-47CA-5A6899300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876299"/>
            <a:ext cx="13868400" cy="85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81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552782" y="1033673"/>
            <a:ext cx="12252960" cy="4862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154680" marR="5080" indent="-2115185" algn="ctr">
              <a:lnSpc>
                <a:spcPct val="75700"/>
              </a:lnSpc>
              <a:spcBef>
                <a:spcPts val="1614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TECHNICAL ARCHITECTURE &amp; METHODOLOGY</a:t>
            </a:r>
            <a:endParaRPr sz="4000" dirty="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4799" y="2610245"/>
            <a:ext cx="5857859" cy="6019799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56200" y="2896172"/>
            <a:ext cx="13398500" cy="566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endParaRPr sz="4000">
              <a:latin typeface="Times New Roman"/>
              <a:cs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5259" y="3389142"/>
            <a:ext cx="402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3A7EE6"/>
                </a:solidFill>
                <a:latin typeface="Aptos"/>
              </a:rPr>
              <a:t>END-TO-END SYSTEM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3664" y="2773347"/>
            <a:ext cx="2331720" cy="13714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9409" y="3104070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Webcam</a:t>
            </a:r>
            <a:endParaRPr sz="1400" b="1" dirty="0">
              <a:solidFill>
                <a:srgbClr val="182D4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25276" y="3667677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dirty="0">
                <a:solidFill>
                  <a:srgbClr val="5E6B7C"/>
                </a:solidFill>
                <a:latin typeface="Aptos"/>
              </a:rPr>
              <a:t>Live camera frames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1769" y="3264330"/>
            <a:ext cx="411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48BCC9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6663" y="2794944"/>
            <a:ext cx="2277522" cy="14033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745" y="3149462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Pose Estimation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6502" y="3695668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dirty="0">
                <a:solidFill>
                  <a:srgbClr val="5E6B7C"/>
                </a:solidFill>
                <a:latin typeface="Aptos"/>
              </a:rPr>
              <a:t>Body</a:t>
            </a:r>
            <a:r>
              <a:rPr sz="1100" b="0" dirty="0">
                <a:solidFill>
                  <a:srgbClr val="5E6B7C"/>
                </a:solidFill>
                <a:latin typeface="Aptos"/>
              </a:rPr>
              <a:t> </a:t>
            </a:r>
            <a:r>
              <a:rPr sz="1400" b="0" dirty="0">
                <a:solidFill>
                  <a:srgbClr val="5E6B7C"/>
                </a:solidFill>
                <a:latin typeface="Aptos"/>
              </a:rPr>
              <a:t>landmarks</a:t>
            </a:r>
            <a:endParaRPr sz="1100" b="0" dirty="0">
              <a:solidFill>
                <a:srgbClr val="5E6B7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7849" y="3280291"/>
            <a:ext cx="678128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48BCC9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20400" y="2743973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21322" y="2584872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71855" y="3080932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Posture</a:t>
            </a:r>
            <a:r>
              <a:rPr sz="1400" b="1" dirty="0">
                <a:solidFill>
                  <a:srgbClr val="182D4B"/>
                </a:solidFill>
                <a:latin typeface="Aptos"/>
              </a:rPr>
              <a:t> </a:t>
            </a:r>
            <a:r>
              <a:rPr sz="2000" b="1" dirty="0">
                <a:solidFill>
                  <a:srgbClr val="182D4B"/>
                </a:solidFill>
                <a:latin typeface="Aptos"/>
              </a:rPr>
              <a:t>Analysis</a:t>
            </a:r>
            <a:endParaRPr sz="1400" b="1" dirty="0">
              <a:solidFill>
                <a:srgbClr val="182D4B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07688" y="3671874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dirty="0">
                <a:solidFill>
                  <a:srgbClr val="5E6B7C"/>
                </a:solidFill>
                <a:latin typeface="Aptos"/>
              </a:rPr>
              <a:t>Alignment rules / thresholds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90244" y="3348901"/>
            <a:ext cx="1324518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48BCC9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099685" y="2879716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393093" y="3206754"/>
            <a:ext cx="3200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85691" y="3238437"/>
            <a:ext cx="1676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182D4B"/>
                </a:solidFill>
                <a:latin typeface="Aptos"/>
              </a:rPr>
              <a:t>Feedback</a:t>
            </a:r>
            <a:endParaRPr sz="1400" b="1" dirty="0">
              <a:solidFill>
                <a:srgbClr val="182D4B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248531" y="3756282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dirty="0">
                <a:solidFill>
                  <a:srgbClr val="5E6B7C"/>
                </a:solidFill>
                <a:latin typeface="Aptos"/>
              </a:rPr>
              <a:t>Visual correction prompt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8821" y="4960348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dirty="0">
                <a:solidFill>
                  <a:srgbClr val="2CB57E"/>
                </a:solidFill>
                <a:latin typeface="Aptos"/>
              </a:rPr>
              <a:t>TECH 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8243" y="5691820"/>
            <a:ext cx="6328453" cy="3245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React – responsive user interface and live feedback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</a:t>
            </a:r>
            <a:r>
              <a:rPr sz="2800" b="0" dirty="0" err="1">
                <a:solidFill>
                  <a:srgbClr val="26303E"/>
                </a:solidFill>
                <a:latin typeface="Aptos"/>
              </a:rPr>
              <a:t>MediaPipe</a:t>
            </a:r>
            <a:r>
              <a:rPr sz="2800" b="0" dirty="0">
                <a:solidFill>
                  <a:srgbClr val="26303E"/>
                </a:solidFill>
                <a:latin typeface="Aptos"/>
              </a:rPr>
              <a:t> – real-time body/pose landmark detection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TensorFlow.js – browser-based model inference and posture logic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Webcam / browser APIs – camera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39257" y="4960348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dirty="0">
                <a:solidFill>
                  <a:srgbClr val="3A7EE6"/>
                </a:solidFill>
                <a:latin typeface="Aptos"/>
              </a:rPr>
              <a:t>METHODOLOGY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39257" y="5625288"/>
            <a:ext cx="5857859" cy="3309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Capture frames from the webcam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Extract body landmarks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Calculate posture indicators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Compare against defined posture conditions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800" b="0" dirty="0">
                <a:solidFill>
                  <a:srgbClr val="26303E"/>
                </a:solidFill>
                <a:latin typeface="Aptos"/>
              </a:rPr>
              <a:t>• Trigger clear feedback when correction is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4329430" cy="3771900"/>
            <a:chOff x="0" y="0"/>
            <a:chExt cx="4329430" cy="37719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85670" cy="3771900"/>
            </a:xfrm>
            <a:custGeom>
              <a:avLst/>
              <a:gdLst/>
              <a:ahLst/>
              <a:cxnLst/>
              <a:rect l="l" t="t" r="r" b="b"/>
              <a:pathLst>
                <a:path w="2185670" h="3771900">
                  <a:moveTo>
                    <a:pt x="29942" y="3771850"/>
                  </a:moveTo>
                  <a:lnTo>
                    <a:pt x="0" y="3719439"/>
                  </a:lnTo>
                  <a:lnTo>
                    <a:pt x="0" y="0"/>
                  </a:lnTo>
                  <a:lnTo>
                    <a:pt x="2185279" y="0"/>
                  </a:lnTo>
                  <a:lnTo>
                    <a:pt x="29942" y="377185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7" y="0"/>
              <a:ext cx="4299585" cy="906144"/>
            </a:xfrm>
            <a:custGeom>
              <a:avLst/>
              <a:gdLst/>
              <a:ahLst/>
              <a:cxnLst/>
              <a:rect l="l" t="t" r="r" b="b"/>
              <a:pathLst>
                <a:path w="4299585" h="906144">
                  <a:moveTo>
                    <a:pt x="3560637" y="905864"/>
                  </a:moveTo>
                  <a:lnTo>
                    <a:pt x="0" y="905864"/>
                  </a:lnTo>
                  <a:lnTo>
                    <a:pt x="738531" y="0"/>
                  </a:lnTo>
                  <a:lnTo>
                    <a:pt x="4299183" y="0"/>
                  </a:lnTo>
                  <a:lnTo>
                    <a:pt x="3560637" y="905864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101111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4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4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447322" y="982162"/>
            <a:ext cx="1097280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48560" algn="ctr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IMPACT &amp; BENEFIT</a:t>
            </a:r>
            <a:endParaRPr sz="8000" dirty="0"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749" y="3067155"/>
            <a:ext cx="142875" cy="1428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6612" y="6839438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4799" y="2610245"/>
            <a:ext cx="5857859" cy="6019799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1571319" y="2393917"/>
            <a:ext cx="4983480" cy="2438212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01112" y="2705100"/>
            <a:ext cx="4572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2CB57E"/>
                </a:solidFill>
                <a:latin typeface="Aptos"/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4360" y="3227486"/>
            <a:ext cx="4572000" cy="114492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0" dirty="0">
                <a:solidFill>
                  <a:srgbClr val="26303E"/>
                </a:solidFill>
                <a:latin typeface="Aptos"/>
              </a:rPr>
              <a:t>Target: improve posture awareness and reduce unnoticed poor-posture periods during desk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25699" y="2546768"/>
            <a:ext cx="4983480" cy="214884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89073" y="2832235"/>
            <a:ext cx="4572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3A7EE6"/>
                </a:solidFill>
                <a:latin typeface="Aptos"/>
              </a:rPr>
              <a:t>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88229" y="3421237"/>
            <a:ext cx="4572000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Browser + webcam approach keeps setup simple. Users can interact with feedback while continuing normal tasks.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71319" y="5468021"/>
            <a:ext cx="4983480" cy="2296551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99662" y="5742922"/>
            <a:ext cx="4572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DE9134"/>
                </a:solidFill>
                <a:latin typeface="Aptos"/>
              </a:rPr>
              <a:t>RISKS &amp;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6235835"/>
            <a:ext cx="4572000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Lighting / camera angle → setup guidance. False alerts → adjustable thresholds. Privacy concerns → minimize data retention</a:t>
            </a:r>
            <a:r>
              <a:rPr sz="1300" b="0" dirty="0">
                <a:solidFill>
                  <a:srgbClr val="26303E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04553" y="5052009"/>
            <a:ext cx="4983480" cy="2148840"/>
          </a:xfrm>
          <a:prstGeom prst="roundRect">
            <a:avLst/>
          </a:prstGeom>
          <a:solidFill>
            <a:srgbClr val="F0F9FA"/>
          </a:solidFill>
          <a:ln w="12700">
            <a:solidFill>
              <a:srgbClr val="E8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175455" y="5394960"/>
            <a:ext cx="45720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48BCC9"/>
                </a:solidFill>
                <a:latin typeface="Aptos"/>
              </a:rPr>
              <a:t>FUTURE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5261" y="6044209"/>
            <a:ext cx="4572000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Personalized posture profiles, session analytics, break reminders, additional posture patterns, and progress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657600" y="560903"/>
            <a:ext cx="1097280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4000" b="1" dirty="0">
                <a:solidFill>
                  <a:srgbClr val="182D4B"/>
                </a:solidFill>
                <a:latin typeface="Aptos"/>
              </a:rPr>
              <a:t>REFERENCE &amp; CONCLUSION</a:t>
            </a: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823" y="3866169"/>
            <a:ext cx="142875" cy="1428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3823" y="5980719"/>
            <a:ext cx="142875" cy="142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659" y="2206385"/>
            <a:ext cx="5857859" cy="60197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13662" y="2862255"/>
            <a:ext cx="1199261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980">
              <a:lnSpc>
                <a:spcPct val="115599"/>
              </a:lnSpc>
              <a:spcBef>
                <a:spcPts val="100"/>
              </a:spcBef>
            </a:pP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56233" y="8599953"/>
            <a:ext cx="157480" cy="314960"/>
          </a:xfrm>
          <a:prstGeom prst="rect">
            <a:avLst/>
          </a:prstGeom>
        </p:spPr>
        <p:txBody>
          <a:bodyPr vert="horz" wrap="square" lIns="54864" tIns="54864" rIns="54864" bIns="54864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</a:pPr>
            <a:r>
              <a:rPr sz="1900" spc="-50" dirty="0">
                <a:solidFill>
                  <a:srgbClr val="233F61"/>
                </a:solidFill>
                <a:latin typeface="Aptos"/>
                <a:cs typeface="Cambria"/>
              </a:rPr>
              <a:t>L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1459572" y="2664432"/>
            <a:ext cx="6583680" cy="422910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D3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3892" y="3030192"/>
            <a:ext cx="58521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3A7EE6"/>
                </a:solidFill>
                <a:latin typeface="Aptos"/>
              </a:rPr>
              <a:t>REFERENCES / FURTHER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3892" y="3654951"/>
            <a:ext cx="5852160" cy="269150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1400" b="0" dirty="0">
                <a:solidFill>
                  <a:srgbClr val="26303E"/>
                </a:solidFill>
                <a:latin typeface="Aptos"/>
              </a:rPr>
              <a:t>• </a:t>
            </a:r>
            <a:r>
              <a:rPr sz="2000" b="0" dirty="0" err="1">
                <a:solidFill>
                  <a:srgbClr val="26303E"/>
                </a:solidFill>
                <a:latin typeface="Aptos"/>
              </a:rPr>
              <a:t>MediaPipe</a:t>
            </a:r>
            <a:r>
              <a:rPr sz="2000" b="0" dirty="0">
                <a:solidFill>
                  <a:srgbClr val="26303E"/>
                </a:solidFill>
                <a:latin typeface="Aptos"/>
              </a:rPr>
              <a:t> documentation – Pose </a:t>
            </a:r>
            <a:r>
              <a:rPr sz="2000" b="0" dirty="0" err="1">
                <a:solidFill>
                  <a:srgbClr val="26303E"/>
                </a:solidFill>
                <a:latin typeface="Aptos"/>
              </a:rPr>
              <a:t>Landmarker</a:t>
            </a:r>
            <a:r>
              <a:rPr sz="2000" b="0" dirty="0">
                <a:solidFill>
                  <a:srgbClr val="26303E"/>
                </a:solidFill>
                <a:latin typeface="Aptos"/>
              </a:rPr>
              <a:t> / pose estimation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TensorFlow.js documentation – machine learning in the browser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React documentation – component-based user interfaces</a:t>
            </a:r>
          </a:p>
          <a:p>
            <a:pPr algn="l">
              <a:spcAft>
                <a:spcPts val="5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• World Health Organization – musculoskeletal health 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29631" y="2698363"/>
            <a:ext cx="5231846" cy="4205301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98318" y="3040324"/>
            <a:ext cx="2926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2CB57E"/>
                </a:solidFill>
                <a:latin typeface="Aptos"/>
              </a:rPr>
              <a:t>FINAL WRAP-UP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8318" y="3725195"/>
            <a:ext cx="4491938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b="1" dirty="0" err="1">
                <a:solidFill>
                  <a:srgbClr val="182D4B"/>
                </a:solidFill>
                <a:latin typeface="Aptos"/>
              </a:rPr>
              <a:t>AlignMe</a:t>
            </a:r>
            <a:r>
              <a:rPr b="1" dirty="0">
                <a:solidFill>
                  <a:srgbClr val="182D4B"/>
                </a:solidFill>
                <a:latin typeface="Aptos"/>
              </a:rPr>
              <a:t> addresses an everyday problem: poor posture that goes unnoticed during long desk sessions.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8318" y="4703936"/>
            <a:ext cx="4491938" cy="15758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dirty="0">
                <a:solidFill>
                  <a:srgbClr val="26303E"/>
                </a:solidFill>
                <a:latin typeface="Aptos"/>
              </a:rPr>
              <a:t>By combining continuous posture awareness with immediate feedback, the project aims to help users recognize and correct posture before poor habits become routine.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6445863"/>
            <a:ext cx="2971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dirty="0">
                <a:solidFill>
                  <a:srgbClr val="3A7EE6"/>
                </a:solidFill>
                <a:latin typeface="Aptos"/>
              </a:rPr>
              <a:t>ALIGNME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F172A"/>
                </a:solidFill>
                <a:latin typeface="Aptos"/>
              </a:defRPr>
            </a:pPr>
            <a:r>
              <a:t>CORE USPs &amp; COMPETITIVE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00400" y="1234440"/>
            <a:ext cx="1188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Aptos"/>
              </a:defRPr>
            </a:pPr>
            <a:r>
              <a:t>Zero-Knowledge Edge Privacy  •  Personalized Baseline Calibration  •  Zero False-Alarm Hysteresis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40280"/>
            <a:ext cx="4983480" cy="6537960"/>
          </a:xfrm>
          <a:prstGeom prst="roundRect">
            <a:avLst/>
          </a:prstGeom>
          <a:solidFill>
            <a:srgbClr val="F2F7FF"/>
          </a:solidFill>
          <a:ln w="19050">
            <a:solidFill>
              <a:srgbClr val="D3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560320"/>
            <a:ext cx="4343400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  <a:latin typeface="Aptos"/>
              </a:defRPr>
            </a:pPr>
            <a:r>
              <a:t>100% ZERO-KNOWLEDGE EDGE CV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Absolute Optical Privacy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Zero Cloud Video Streaming: </a:t>
            </a:r>
            <a:r>
              <a:rPr sz="1050" b="0">
                <a:solidFill>
                  <a:srgbClr val="475569"/>
                </a:solidFill>
                <a:latin typeface="Aptos"/>
              </a:rPr>
              <a:t>Raw webcam frames never leave the client device or traverse external servers, ensuring 100% HIPAA &amp; GDPR compliance.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In-Browser WASM Execution: </a:t>
            </a:r>
            <a:r>
              <a:rPr sz="1050" b="0">
                <a:solidFill>
                  <a:srgbClr val="475569"/>
                </a:solidFill>
                <a:latin typeface="Aptos"/>
              </a:rPr>
              <a:t>Complete 33-point 3D anatomical skeletal extraction runs in WebAssembly with sub-10ms inference latency.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Offline Resilience: </a:t>
            </a:r>
            <a:r>
              <a:rPr sz="1050" b="0">
                <a:solidFill>
                  <a:srgbClr val="475569"/>
                </a:solidFill>
                <a:latin typeface="Aptos"/>
              </a:rPr>
              <a:t>Self-hosted local WASM binaries and TFLite neural models run smoothly without internet connectivity or CDN downtime.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Enterprise B2B Ready: </a:t>
            </a:r>
            <a:r>
              <a:rPr sz="1050" b="0">
                <a:solidFill>
                  <a:srgbClr val="475569"/>
                </a:solidFill>
                <a:latin typeface="Aptos"/>
              </a:rPr>
              <a:t>Safe for corporate-managed laptops in high-security finance, healthcare, and engineering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2240280"/>
            <a:ext cx="4983480" cy="6537960"/>
          </a:xfrm>
          <a:prstGeom prst="roundRect">
            <a:avLst/>
          </a:prstGeom>
          <a:solidFill>
            <a:srgbClr val="F0FAF6"/>
          </a:solidFill>
          <a:ln w="1905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2560320"/>
            <a:ext cx="4343400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59669"/>
                </a:solidFill>
                <a:latin typeface="Aptos"/>
              </a:defRPr>
            </a:pPr>
            <a:r>
              <a:t>PERSONALIZED CALIBRATION ENGINE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1-Click Neutral Spine Baseline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Solves Fixed-Threshold Flaws: </a:t>
            </a:r>
            <a:r>
              <a:rPr sz="1050" b="0">
                <a:solidFill>
                  <a:srgbClr val="475569"/>
                </a:solidFill>
                <a:latin typeface="Aptos"/>
              </a:rPr>
              <a:t>Standard posture monitors fail because people have different heights, chairs, and natural spinal curvatures.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Relative Delta Monitoring: </a:t>
            </a:r>
            <a:r>
              <a:rPr sz="1050" b="0">
                <a:solidFill>
                  <a:srgbClr val="475569"/>
                </a:solidFill>
                <a:latin typeface="Aptos"/>
              </a:rPr>
              <a:t>Captures personal neutral baseline and tracks real-time deviation: Δ Neck Pitch, Δ Shoulder Roll, and Δ Torso Lean.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Desk Occlusion Biomechanics: </a:t>
            </a:r>
            <a:r>
              <a:rPr sz="1050" b="0">
                <a:solidFill>
                  <a:srgbClr val="475569"/>
                </a:solidFill>
                <a:latin typeface="Aptos"/>
              </a:rPr>
              <a:t>Gracefully estimates full-trunk vectors when hips are cropped below office desks, preventing tracking drops.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Instant Visual Confirmation: </a:t>
            </a:r>
            <a:r>
              <a:rPr sz="1050" b="0">
                <a:solidFill>
                  <a:srgbClr val="475569"/>
                </a:solidFill>
                <a:latin typeface="Aptos"/>
              </a:rPr>
              <a:t>HUD badge and harmonic confirmation tone verify personalized neutral lock in under 3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2240280"/>
            <a:ext cx="4983480" cy="6537960"/>
          </a:xfrm>
          <a:prstGeom prst="roundRect">
            <a:avLst/>
          </a:prstGeom>
          <a:solidFill>
            <a:srgbClr val="FFF8EE"/>
          </a:solidFill>
          <a:ln w="19050">
            <a:solidFill>
              <a:srgbClr val="FBE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07240" y="2560320"/>
            <a:ext cx="4343400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7706"/>
                </a:solidFill>
                <a:latin typeface="Aptos"/>
              </a:defRPr>
            </a:pPr>
            <a:r>
              <a:t>TEMPORAL HYSTERESIS CLASSIFIER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False-Alarm Elimination &amp; Active Rehab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Zero Alert Fatigue: </a:t>
            </a:r>
            <a:r>
              <a:rPr sz="1050" b="0">
                <a:solidFill>
                  <a:srgbClr val="475569"/>
                </a:solidFill>
                <a:latin typeface="Aptos"/>
              </a:rPr>
              <a:t>Distinguishes normal micro-movements (taking a sip of coffee, shifting in chair) from sustained clinical slouching (&gt;15s).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Multi-Mode Biomechanics: </a:t>
            </a:r>
            <a:r>
              <a:rPr sz="1050" b="0">
                <a:solidFill>
                  <a:srgbClr val="475569"/>
                </a:solidFill>
                <a:latin typeface="Aptos"/>
              </a:rPr>
              <a:t>One-click toggle between Desk Sitting Ergonomics, Squat Depth &amp; Rep Tracking, and Spinal Hold stability.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Web Audio Synthesizer: </a:t>
            </a:r>
            <a:r>
              <a:rPr sz="1050" b="0">
                <a:solidFill>
                  <a:srgbClr val="475569"/>
                </a:solidFill>
                <a:latin typeface="Aptos"/>
              </a:rPr>
              <a:t>Pleasant harmonic sine waves replace irritating buzzers, creating a positive biofeedback loop.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  <a:latin typeface="Aptos"/>
              </a:defRPr>
            </a:pPr>
            <a:r>
              <a:t>•  15s Guided Decompression: </a:t>
            </a:r>
            <a:r>
              <a:rPr sz="1050" b="0">
                <a:solidFill>
                  <a:srgbClr val="475569"/>
                </a:solidFill>
                <a:latin typeface="Aptos"/>
              </a:rPr>
              <a:t>Transforms passive surveillance into an active physical therapy coach with real-time breathing and posture cues.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F172A"/>
                </a:solidFill>
                <a:latin typeface="Aptos"/>
              </a:defRPr>
            </a:pPr>
            <a:r>
              <a:t>LIVE SYSTEM DEMONSTRATION &amp; SENSOR HUD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00400" y="1234440"/>
            <a:ext cx="1188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Aptos"/>
              </a:defRPr>
            </a:pPr>
            <a:r>
              <a:t>Real-Time 30 FPS Optical Inference  •  33-Point 3D Skeletal Overlay  •  Biomechanical Angle Gauges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40280"/>
            <a:ext cx="9692640" cy="6537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_live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560320"/>
            <a:ext cx="9144000" cy="530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80010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Aptos"/>
              </a:defRPr>
            </a:pPr>
            <a:r>
              <a:t>LIVE CAMERA CV // USER LOCKED (30+ FPS) // REAL-TIME SKELETON &amp; CENTER OF MASS RETICLE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75720" y="2240280"/>
            <a:ext cx="5394960" cy="6537960"/>
          </a:xfrm>
          <a:prstGeom prst="roundRect">
            <a:avLst/>
          </a:prstGeom>
          <a:solidFill>
            <a:srgbClr val="F0FAF6"/>
          </a:solidFill>
          <a:ln w="1905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50040" y="2560320"/>
            <a:ext cx="4846320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59669"/>
                </a:solidFill>
                <a:latin typeface="Aptos"/>
              </a:defRPr>
            </a:pPr>
            <a:r>
              <a:t>COMPUTER VISION HUD CAPABILITIES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Live Optical Telemetry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Sub-Millisecond Anatomical Tracking: </a:t>
            </a:r>
            <a:r>
              <a:rPr sz="1000" b="0">
                <a:solidFill>
                  <a:srgbClr val="475569"/>
                </a:solidFill>
                <a:latin typeface="Aptos"/>
              </a:rPr>
              <a:t>Continuous 33-point landmark tracking calculating 3D spatial vectors without specialized wearable sensors.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Real-Time Joint Angle Badges: </a:t>
            </a:r>
            <a:r>
              <a:rPr sz="1000" b="0">
                <a:solidFill>
                  <a:srgbClr val="475569"/>
                </a:solidFill>
                <a:latin typeface="Aptos"/>
              </a:rPr>
              <a:t>Dynamic overlays computing Cervical Pitch (&lt;15°), Acromion Shoulder Balance (&lt;3°), and Lumbar Torso Vector (&lt;7°).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Center of Mass (CoM) Reticle: </a:t>
            </a:r>
            <a:r>
              <a:rPr sz="1000" b="0">
                <a:solidFill>
                  <a:srgbClr val="475569"/>
                </a:solidFill>
                <a:latin typeface="Aptos"/>
              </a:rPr>
              <a:t>Visual crosshair tracking upper-body gravity center; flags anterior slouching before muscle fatigue sets in.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Bilateral Pelvic Symmetry: </a:t>
            </a:r>
            <a:r>
              <a:rPr sz="1000" b="0">
                <a:solidFill>
                  <a:srgbClr val="475569"/>
                </a:solidFill>
                <a:latin typeface="Aptos"/>
              </a:rPr>
              <a:t>Quantifies Left/Right weight distribution (e.g. 52% L / 48% R) to prevent unilateral spinal torque.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Multi-Movement Engine: </a:t>
            </a:r>
            <a:r>
              <a:rPr sz="1000" b="0">
                <a:solidFill>
                  <a:srgbClr val="475569"/>
                </a:solidFill>
                <a:latin typeface="Aptos"/>
              </a:rPr>
              <a:t>Includes Squat Movement Depth tracker with active phase detection and rep counting for active work breaks.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F172A"/>
                </a:solidFill>
                <a:latin typeface="Aptos"/>
              </a:defRPr>
            </a:pPr>
            <a:r>
              <a:t>CLINICAL RESCUE RITUAL &amp; ERGONOMIC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00400" y="1234440"/>
            <a:ext cx="1188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Aptos"/>
              </a:defRPr>
            </a:pPr>
            <a:r>
              <a:t>Interactive Spinal Decompression  •  OSHA &amp; RULA Compliant Clinical Audit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40280"/>
            <a:ext cx="5486400" cy="6537960"/>
          </a:xfrm>
          <a:prstGeom prst="roundRect">
            <a:avLst/>
          </a:prstGeom>
          <a:solidFill>
            <a:srgbClr val="FFF8EE"/>
          </a:solidFill>
          <a:ln w="19050">
            <a:solidFill>
              <a:srgbClr val="FBE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560320"/>
            <a:ext cx="4937760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7706"/>
                </a:solidFill>
                <a:latin typeface="Aptos"/>
              </a:defRPr>
            </a:pPr>
            <a:r>
              <a:t>ACTIVE CLINICAL INTERVENTION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Aptos"/>
              </a:defRPr>
            </a:pPr>
            <a:r>
              <a:t>15s Spinal Reset Ritual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Phase 1: Cervical Retraction (15-10s): </a:t>
            </a:r>
            <a:r>
              <a:rPr sz="1000" b="0">
                <a:solidFill>
                  <a:srgbClr val="475569"/>
                </a:solidFill>
                <a:latin typeface="Aptos"/>
              </a:rPr>
              <a:t>Deep diaphragmatic inhale combined with deliberate chin retraction to align auditory canal directly over acromion shoulders.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Phase 2: Scapular Release (10-5s): </a:t>
            </a:r>
            <a:r>
              <a:rPr sz="1000" b="0">
                <a:solidFill>
                  <a:srgbClr val="475569"/>
                </a:solidFill>
                <a:latin typeface="Aptos"/>
              </a:rPr>
              <a:t>Controlled scapular depression and retraction, opening the thoracic cavity and alleviating trapezius spasm.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Phase 3: Spinal Lengthening (5-0s): </a:t>
            </a:r>
            <a:r>
              <a:rPr sz="1000" b="0">
                <a:solidFill>
                  <a:srgbClr val="475569"/>
                </a:solidFill>
                <a:latin typeface="Aptos"/>
              </a:rPr>
              <a:t>Axial decompression imaging an upward axial vector through the skull vertex, decompressing lumbar discs.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Harmonic Acoustic Chimes: </a:t>
            </a:r>
            <a:r>
              <a:rPr sz="1000" b="0">
                <a:solidFill>
                  <a:srgbClr val="475569"/>
                </a:solidFill>
                <a:latin typeface="Aptos"/>
              </a:rPr>
              <a:t>Frequency-modulating sine waves synthesize soothing auditory cues signaling phase transitions.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Gamified Recovery Incentive: </a:t>
            </a:r>
            <a:r>
              <a:rPr sz="1000" b="0">
                <a:solidFill>
                  <a:srgbClr val="475569"/>
                </a:solidFill>
                <a:latin typeface="Aptos"/>
              </a:rPr>
              <a:t>Awards +25 Ergonomic Recovery Score and immediately clears active strain episode flags upon ritual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240280"/>
            <a:ext cx="9601200" cy="6537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_overvie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560320"/>
            <a:ext cx="9052560" cy="457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7269480"/>
            <a:ext cx="9052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Aptos"/>
              </a:defRPr>
            </a:pPr>
            <a:r>
              <a:t>OSHA &amp; RULA COMPLIANT CLINICAL AUDIT REPORT (1-CLICK PRINT / PDF EXPORT)</a:t>
            </a:r>
          </a:p>
          <a:p>
            <a:pPr>
              <a:defRPr sz="1000">
                <a:solidFill>
                  <a:srgbClr val="475569"/>
                </a:solidFill>
                <a:latin typeface="Aptos"/>
              </a:defRPr>
            </a:pPr>
            <a:r>
              <a:t>• Rapid Upper Limb Assessment (RULA Action Levels 1-4) analyzing cumulative cervical load time.</a:t>
            </a:r>
            <a:br/>
            <a:r>
              <a:t>• Quantified anatomical breakdown and actionable workstation prescriptions (monitor riser height, forearm geometry).</a:t>
            </a:r>
            <a:br/>
            <a:r>
              <a:t>• Ready for physiotherapist consultations, orthopedic visits, and corporate health insurance wellness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F172A"/>
                </a:solidFill>
                <a:latin typeface="Aptos"/>
              </a:defRPr>
            </a:pPr>
            <a:r>
              <a:t>FUTURE IMPLEMENTATION &amp; SCALABILITY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4276090" cy="3707129"/>
            <a:chOff x="0" y="0"/>
            <a:chExt cx="4276090" cy="3707129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2148205" cy="3707129"/>
            </a:xfrm>
            <a:custGeom>
              <a:avLst/>
              <a:gdLst/>
              <a:ahLst/>
              <a:cxnLst/>
              <a:rect l="l" t="t" r="r" b="b"/>
              <a:pathLst>
                <a:path w="2148205" h="3707129">
                  <a:moveTo>
                    <a:pt x="29942" y="3706733"/>
                  </a:moveTo>
                  <a:lnTo>
                    <a:pt x="0" y="3654333"/>
                  </a:lnTo>
                  <a:lnTo>
                    <a:pt x="0" y="0"/>
                  </a:lnTo>
                  <a:lnTo>
                    <a:pt x="2148070" y="0"/>
                  </a:lnTo>
                  <a:lnTo>
                    <a:pt x="29942" y="3706733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66" y="0"/>
              <a:ext cx="4246245" cy="841375"/>
            </a:xfrm>
            <a:custGeom>
              <a:avLst/>
              <a:gdLst/>
              <a:ahLst/>
              <a:cxnLst/>
              <a:rect l="l" t="t" r="r" b="b"/>
              <a:pathLst>
                <a:path w="4246245" h="841375">
                  <a:moveTo>
                    <a:pt x="3560638" y="840748"/>
                  </a:moveTo>
                  <a:lnTo>
                    <a:pt x="0" y="840748"/>
                  </a:lnTo>
                  <a:lnTo>
                    <a:pt x="685444" y="0"/>
                  </a:lnTo>
                  <a:lnTo>
                    <a:pt x="4246095" y="0"/>
                  </a:lnTo>
                  <a:lnTo>
                    <a:pt x="3560638" y="840748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12" y="1035994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20" h="1017905">
                  <a:moveTo>
                    <a:pt x="581655" y="1017897"/>
                  </a:moveTo>
                  <a:lnTo>
                    <a:pt x="0" y="0"/>
                  </a:lnTo>
                  <a:lnTo>
                    <a:pt x="1163311" y="0"/>
                  </a:lnTo>
                  <a:lnTo>
                    <a:pt x="581655" y="1017897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2"/>
          <p:cNvGrpSpPr/>
          <p:nvPr/>
        </p:nvGrpSpPr>
        <p:grpSpPr>
          <a:xfrm>
            <a:off x="14047697" y="6587520"/>
            <a:ext cx="4240530" cy="3699510"/>
            <a:chOff x="14047697" y="6587520"/>
            <a:chExt cx="4240530" cy="3699510"/>
          </a:xfrm>
        </p:grpSpPr>
        <p:sp>
          <p:nvSpPr>
            <p:cNvPr id="3" name="object 3"/>
            <p:cNvSpPr/>
            <p:nvPr/>
          </p:nvSpPr>
          <p:spPr>
            <a:xfrm>
              <a:off x="16173946" y="6587520"/>
              <a:ext cx="2114550" cy="3699510"/>
            </a:xfrm>
            <a:custGeom>
              <a:avLst/>
              <a:gdLst/>
              <a:ahLst/>
              <a:cxnLst/>
              <a:rect l="l" t="t" r="r" b="b"/>
              <a:pathLst>
                <a:path w="2114550" h="3699509">
                  <a:moveTo>
                    <a:pt x="2114053" y="0"/>
                  </a:moveTo>
                  <a:lnTo>
                    <a:pt x="2114053" y="3699479"/>
                  </a:lnTo>
                  <a:lnTo>
                    <a:pt x="0" y="3699479"/>
                  </a:lnTo>
                  <a:lnTo>
                    <a:pt x="2114053" y="0"/>
                  </a:lnTo>
                  <a:close/>
                </a:path>
              </a:pathLst>
            </a:custGeom>
            <a:solidFill>
              <a:srgbClr val="1658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47697" y="9453490"/>
              <a:ext cx="4240530" cy="833755"/>
            </a:xfrm>
            <a:custGeom>
              <a:avLst/>
              <a:gdLst/>
              <a:ahLst/>
              <a:cxnLst/>
              <a:rect l="l" t="t" r="r" b="b"/>
              <a:pathLst>
                <a:path w="4240530" h="833754">
                  <a:moveTo>
                    <a:pt x="679567" y="3"/>
                  </a:moveTo>
                  <a:lnTo>
                    <a:pt x="4240213" y="0"/>
                  </a:lnTo>
                  <a:lnTo>
                    <a:pt x="3560669" y="833509"/>
                  </a:lnTo>
                  <a:lnTo>
                    <a:pt x="0" y="833509"/>
                  </a:lnTo>
                  <a:lnTo>
                    <a:pt x="679567" y="3"/>
                  </a:lnTo>
                  <a:close/>
                </a:path>
              </a:pathLst>
            </a:custGeom>
            <a:solidFill>
              <a:srgbClr val="87A5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276656" y="8240328"/>
              <a:ext cx="1163320" cy="1017905"/>
            </a:xfrm>
            <a:custGeom>
              <a:avLst/>
              <a:gdLst/>
              <a:ahLst/>
              <a:cxnLst/>
              <a:rect l="l" t="t" r="r" b="b"/>
              <a:pathLst>
                <a:path w="1163319" h="1017904">
                  <a:moveTo>
                    <a:pt x="581649" y="0"/>
                  </a:moveTo>
                  <a:lnTo>
                    <a:pt x="1163299" y="1017910"/>
                  </a:lnTo>
                  <a:lnTo>
                    <a:pt x="0" y="1017910"/>
                  </a:lnTo>
                  <a:lnTo>
                    <a:pt x="581649" y="0"/>
                  </a:lnTo>
                  <a:close/>
                </a:path>
              </a:pathLst>
            </a:custGeom>
            <a:solidFill>
              <a:srgbClr val="A5B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200400" y="1234440"/>
            <a:ext cx="1188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Aptos"/>
              </a:defRPr>
            </a:pPr>
            <a:r>
              <a:t>From Browser Intelligence to Enterprise Musculoskeletal Health Ecosystem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240280"/>
            <a:ext cx="3703320" cy="6537960"/>
          </a:xfrm>
          <a:prstGeom prst="roundRect">
            <a:avLst/>
          </a:prstGeom>
          <a:solidFill>
            <a:srgbClr val="F2F7FF"/>
          </a:solidFill>
          <a:ln w="19050">
            <a:solidFill>
              <a:srgbClr val="D3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560320"/>
            <a:ext cx="3154679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PHASE 1 // Q4 2026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Smart Desk &amp; IoT Actuation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Matter / BLE Protocol: </a:t>
            </a:r>
            <a:r>
              <a:rPr sz="1000" b="0">
                <a:solidFill>
                  <a:srgbClr val="475569"/>
                </a:solidFill>
                <a:latin typeface="Aptos"/>
              </a:rPr>
              <a:t>Seamless pairing with motorized standing desks (IKEA, Autonomous, Uplift).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Autonomous Height Shifts: </a:t>
            </a:r>
            <a:r>
              <a:rPr sz="1000" b="0">
                <a:solidFill>
                  <a:srgbClr val="475569"/>
                </a:solidFill>
                <a:latin typeface="Aptos"/>
              </a:rPr>
              <a:t>Automatically raises desk to standing height after 45 minutes of static seated slouching.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Haptic Chair Feedback: </a:t>
            </a:r>
            <a:r>
              <a:rPr sz="1000" b="0">
                <a:solidFill>
                  <a:srgbClr val="475569"/>
                </a:solidFill>
                <a:latin typeface="Aptos"/>
              </a:rPr>
              <a:t>Gentle vibration pulses embedded in lumbar chair cushions for silent physical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2240280"/>
            <a:ext cx="3703320" cy="6537960"/>
          </a:xfrm>
          <a:prstGeom prst="roundRect">
            <a:avLst/>
          </a:prstGeom>
          <a:solidFill>
            <a:srgbClr val="F0FAF6"/>
          </a:solidFill>
          <a:ln w="19050">
            <a:solidFill>
              <a:srgbClr val="CF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560320"/>
            <a:ext cx="3154679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59669"/>
                </a:solidFill>
                <a:latin typeface="Aptos"/>
              </a:defRPr>
            </a:pPr>
            <a:r>
              <a:t>PHASE 2 // Q1 2027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Wearable Sensor Fusion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Apple Watch / WearOS Sync: </a:t>
            </a:r>
            <a:r>
              <a:rPr sz="1000" b="0">
                <a:solidFill>
                  <a:srgbClr val="475569"/>
                </a:solidFill>
                <a:latin typeface="Aptos"/>
              </a:rPr>
              <a:t>Continuous background accelerometer &amp; gyroscope streaming from smartwatches.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Multi-Axis Pose Validation: </a:t>
            </a:r>
            <a:r>
              <a:rPr sz="1000" b="0">
                <a:solidFill>
                  <a:srgbClr val="475569"/>
                </a:solidFill>
                <a:latin typeface="Aptos"/>
              </a:rPr>
              <a:t>Maintains accurate spinal curvature analysis even when user turns 90° away from webcam.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Heart Rate Variability (HRV): </a:t>
            </a:r>
            <a:r>
              <a:rPr sz="1000" b="0">
                <a:solidFill>
                  <a:srgbClr val="475569"/>
                </a:solidFill>
                <a:latin typeface="Aptos"/>
              </a:rPr>
              <a:t>Correlates postural slump with sympathetic nervous system fatigue and cognitive 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240280"/>
            <a:ext cx="3703320" cy="6537960"/>
          </a:xfrm>
          <a:prstGeom prst="roundRect">
            <a:avLst/>
          </a:prstGeom>
          <a:solidFill>
            <a:srgbClr val="FFF8EE"/>
          </a:solidFill>
          <a:ln w="19050">
            <a:solidFill>
              <a:srgbClr val="FBE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2560320"/>
            <a:ext cx="3154679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Aptos"/>
              </a:defRPr>
            </a:pPr>
            <a:r>
              <a:t>PHASE 3 // Q2 2027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B2B Enterprise Health Hub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Anonymized Corporate Analytics: </a:t>
            </a:r>
            <a:r>
              <a:rPr sz="1000" b="0">
                <a:solidFill>
                  <a:srgbClr val="475569"/>
                </a:solidFill>
                <a:latin typeface="Aptos"/>
              </a:rPr>
              <a:t>Enterprise HR dashboards tracking aggregate musculoskeletal health across remote teams.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Insurance Rebate Integration: </a:t>
            </a:r>
            <a:r>
              <a:rPr sz="1000" b="0">
                <a:solidFill>
                  <a:srgbClr val="475569"/>
                </a:solidFill>
                <a:latin typeface="Aptos"/>
              </a:rPr>
              <a:t>Partnerships with health insurers offering verified posture wellness premium discounts.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Ergonomic Equipment Audits: </a:t>
            </a:r>
            <a:r>
              <a:rPr sz="1000" b="0">
                <a:solidFill>
                  <a:srgbClr val="475569"/>
                </a:solidFill>
                <a:latin typeface="Aptos"/>
              </a:rPr>
              <a:t>Data-driven hardware recommendations (ergonomic chairs, monitor arms) based on team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30784" y="2240280"/>
            <a:ext cx="3703320" cy="6537960"/>
          </a:xfrm>
          <a:prstGeom prst="roundRect">
            <a:avLst/>
          </a:prstGeom>
          <a:solidFill>
            <a:srgbClr val="F0F9FA"/>
          </a:solidFill>
          <a:ln w="19050">
            <a:solidFill>
              <a:srgbClr val="CE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05104" y="2560320"/>
            <a:ext cx="3154679" cy="5897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891B2"/>
                </a:solidFill>
                <a:latin typeface="Aptos"/>
              </a:defRPr>
            </a:pPr>
            <a:r>
              <a:t>PHASE 4 // Q3 2027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ptos"/>
              </a:defRPr>
            </a:pPr>
            <a:r>
              <a:t>AI Predictive Spine Twin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Spinal Digital Twin: </a:t>
            </a:r>
            <a:r>
              <a:rPr sz="1000" b="0">
                <a:solidFill>
                  <a:srgbClr val="475569"/>
                </a:solidFill>
                <a:latin typeface="Aptos"/>
              </a:rPr>
              <a:t>3D biomechanical modeling projecting long-term disc compression and cervical wear over 5-year horizons.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Preemptive Injury Forecasting: </a:t>
            </a:r>
            <a:r>
              <a:rPr sz="1000" b="0">
                <a:solidFill>
                  <a:srgbClr val="475569"/>
                </a:solidFill>
                <a:latin typeface="Aptos"/>
              </a:rPr>
              <a:t>Identifies early asymmetric compensation patterns preceding chronic sciatica or carpal tunnel.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  <a:latin typeface="Aptos"/>
              </a:defRPr>
            </a:pPr>
            <a:r>
              <a:t>•  Prescriptive Physical Therapy: </a:t>
            </a:r>
            <a:r>
              <a:rPr sz="1000" b="0">
                <a:solidFill>
                  <a:srgbClr val="475569"/>
                </a:solidFill>
                <a:latin typeface="Aptos"/>
              </a:rPr>
              <a:t>Auto-generates tailored physical therapy exercise prescriptions verified by orthopedic specialists.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568</Words>
  <Application>Microsoft Office PowerPoint</Application>
  <PresentationFormat>Custom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Cambria</vt:lpstr>
      <vt:lpstr>Times New Roman</vt:lpstr>
      <vt:lpstr>Office Theme</vt:lpstr>
      <vt:lpstr>HACKCONQUEST</vt:lpstr>
      <vt:lpstr>ALIGNME</vt:lpstr>
      <vt:lpstr>PROBLEM STATEMENT &amp; ROOT CAUSE</vt:lpstr>
      <vt:lpstr>PowerPoint Presentation</vt:lpstr>
      <vt:lpstr>PROPOSED SOLUTION</vt:lpstr>
      <vt:lpstr>PowerPoint Presentation</vt:lpstr>
      <vt:lpstr>TECHNICAL ARCHITECTURE &amp; METHODOLOGY</vt:lpstr>
      <vt:lpstr>IMPACT &amp; BENEFIT</vt:lpstr>
      <vt:lpstr>REFERENCE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HACKCONQUEST HACKATHON_</dc:title>
  <dc:creator>Priya Sahani</dc:creator>
  <cp:keywords>DAHUtnVFVn0,BAHIa-oe70w</cp:keywords>
  <cp:lastModifiedBy>Mihir Kamat</cp:lastModifiedBy>
  <cp:revision>9</cp:revision>
  <dcterms:created xsi:type="dcterms:W3CDTF">2026-09-23T17:06:39Z</dcterms:created>
  <dcterms:modified xsi:type="dcterms:W3CDTF">2026-09-23T18:52:34Z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2026-09-23T00:00:00Z</vt:filetime>
  </property>
  <property fmtid="{D5CDD505-2E9C-101B-9397-08002B2CF9AE}" pid="6" name="Producer">
    <vt:lpwstr>iLovePDF</vt:lpwstr>
  </property>
</Properties>
</file>